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naktoria" charset="1" panose="02020602090805090A03"/>
      <p:regular r:id="rId13"/>
    </p:embeddedFont>
    <p:embeddedFont>
      <p:font typeface="March" charset="1" panose="02000500000000000000"/>
      <p:regular r:id="rId14"/>
    </p:embeddedFont>
    <p:embeddedFont>
      <p:font typeface="Glacial Indifference" charset="1" panose="00000000000000000000"/>
      <p:regular r:id="rId15"/>
    </p:embeddedFont>
    <p:embeddedFont>
      <p:font typeface="Glacial Indifference Italics" charset="1" panose="00000000000000000000"/>
      <p:regular r:id="rId16"/>
    </p:embeddedFont>
    <p:embeddedFont>
      <p:font typeface="Arimo" charset="1" panose="020B0604020202020204"/>
      <p:regular r:id="rId17"/>
    </p:embeddedFont>
    <p:embeddedFont>
      <p:font typeface="Arimo Italics" charset="1" panose="020B060402020209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DEE"/>
        </a:solidFill>
      </p:bgPr>
    </p:bg>
    <p:spTree>
      <p:nvGrpSpPr>
        <p:cNvPr id="1" name=""/>
        <p:cNvGrpSpPr/>
        <p:nvPr/>
      </p:nvGrpSpPr>
      <p:grpSpPr>
        <a:xfrm>
          <a:off x="0" y="0"/>
          <a:ext cx="0" cy="0"/>
          <a:chOff x="0" y="0"/>
          <a:chExt cx="0" cy="0"/>
        </a:xfrm>
      </p:grpSpPr>
      <p:sp>
        <p:nvSpPr>
          <p:cNvPr name="TextBox 2" id="2"/>
          <p:cNvSpPr txBox="true"/>
          <p:nvPr/>
        </p:nvSpPr>
        <p:spPr>
          <a:xfrm rot="0">
            <a:off x="3599610" y="6191685"/>
            <a:ext cx="11812460" cy="1149564"/>
          </a:xfrm>
          <a:prstGeom prst="rect">
            <a:avLst/>
          </a:prstGeom>
        </p:spPr>
        <p:txBody>
          <a:bodyPr anchor="t" rtlCol="false" tIns="0" lIns="0" bIns="0" rIns="0">
            <a:spAutoFit/>
          </a:bodyPr>
          <a:lstStyle/>
          <a:p>
            <a:pPr algn="ctr">
              <a:lnSpc>
                <a:spcPts val="9476"/>
              </a:lnSpc>
              <a:spcBef>
                <a:spcPct val="0"/>
              </a:spcBef>
            </a:pPr>
            <a:r>
              <a:rPr lang="en-US" sz="6768">
                <a:solidFill>
                  <a:srgbClr val="000000"/>
                </a:solidFill>
                <a:latin typeface="Anaktoria"/>
                <a:ea typeface="Anaktoria"/>
                <a:cs typeface="Anaktoria"/>
                <a:sym typeface="Anaktoria"/>
              </a:rPr>
              <a:t>FLL 2025-2026 - Unearthed</a:t>
            </a:r>
          </a:p>
        </p:txBody>
      </p:sp>
      <p:sp>
        <p:nvSpPr>
          <p:cNvPr name="TextBox 3" id="3"/>
          <p:cNvSpPr txBox="true"/>
          <p:nvPr/>
        </p:nvSpPr>
        <p:spPr>
          <a:xfrm rot="194058">
            <a:off x="3604984" y="2320606"/>
            <a:ext cx="11738093" cy="1661953"/>
          </a:xfrm>
          <a:prstGeom prst="rect">
            <a:avLst/>
          </a:prstGeom>
        </p:spPr>
        <p:txBody>
          <a:bodyPr anchor="t" rtlCol="false" tIns="0" lIns="0" bIns="0" rIns="0">
            <a:spAutoFit/>
          </a:bodyPr>
          <a:lstStyle/>
          <a:p>
            <a:pPr algn="ctr">
              <a:lnSpc>
                <a:spcPts val="13585"/>
              </a:lnSpc>
              <a:spcBef>
                <a:spcPct val="0"/>
              </a:spcBef>
            </a:pPr>
            <a:r>
              <a:rPr lang="en-US" sz="9703">
                <a:solidFill>
                  <a:srgbClr val="000000"/>
                </a:solidFill>
                <a:latin typeface="March"/>
                <a:ea typeface="March"/>
                <a:cs typeface="March"/>
                <a:sym typeface="March"/>
              </a:rPr>
              <a:t>LIMITLESS WOLVES</a:t>
            </a:r>
          </a:p>
        </p:txBody>
      </p:sp>
      <p:sp>
        <p:nvSpPr>
          <p:cNvPr name="Freeform 4" id="4"/>
          <p:cNvSpPr/>
          <p:nvPr/>
        </p:nvSpPr>
        <p:spPr>
          <a:xfrm flipH="false" flipV="false" rot="-254693">
            <a:off x="-369298" y="3818766"/>
            <a:ext cx="5581465" cy="6019227"/>
          </a:xfrm>
          <a:custGeom>
            <a:avLst/>
            <a:gdLst/>
            <a:ahLst/>
            <a:cxnLst/>
            <a:rect r="r" b="b" t="t" l="l"/>
            <a:pathLst>
              <a:path h="6019227" w="5581465">
                <a:moveTo>
                  <a:pt x="0" y="0"/>
                </a:moveTo>
                <a:lnTo>
                  <a:pt x="5581466" y="0"/>
                </a:lnTo>
                <a:lnTo>
                  <a:pt x="5581466" y="6019227"/>
                </a:lnTo>
                <a:lnTo>
                  <a:pt x="0" y="6019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602984">
            <a:off x="13737213" y="6233597"/>
            <a:ext cx="5615409" cy="3889947"/>
          </a:xfrm>
          <a:custGeom>
            <a:avLst/>
            <a:gdLst/>
            <a:ahLst/>
            <a:cxnLst/>
            <a:rect r="r" b="b" t="t" l="l"/>
            <a:pathLst>
              <a:path h="3889947" w="5615409">
                <a:moveTo>
                  <a:pt x="0" y="0"/>
                </a:moveTo>
                <a:lnTo>
                  <a:pt x="5615409" y="0"/>
                </a:lnTo>
                <a:lnTo>
                  <a:pt x="5615409" y="3889947"/>
                </a:lnTo>
                <a:lnTo>
                  <a:pt x="0" y="38899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1072058">
            <a:off x="6488985" y="7525352"/>
            <a:ext cx="3279913" cy="2057400"/>
          </a:xfrm>
          <a:custGeom>
            <a:avLst/>
            <a:gdLst/>
            <a:ahLst/>
            <a:cxnLst/>
            <a:rect r="r" b="b" t="t" l="l"/>
            <a:pathLst>
              <a:path h="2057400" w="3279913">
                <a:moveTo>
                  <a:pt x="3279913" y="0"/>
                </a:moveTo>
                <a:lnTo>
                  <a:pt x="0" y="0"/>
                </a:lnTo>
                <a:lnTo>
                  <a:pt x="0" y="2057400"/>
                </a:lnTo>
                <a:lnTo>
                  <a:pt x="3279913" y="2057400"/>
                </a:lnTo>
                <a:lnTo>
                  <a:pt x="327991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774431">
            <a:off x="8561958" y="285359"/>
            <a:ext cx="2886933" cy="2671725"/>
          </a:xfrm>
          <a:custGeom>
            <a:avLst/>
            <a:gdLst/>
            <a:ahLst/>
            <a:cxnLst/>
            <a:rect r="r" b="b" t="t" l="l"/>
            <a:pathLst>
              <a:path h="2671725" w="2886933">
                <a:moveTo>
                  <a:pt x="0" y="0"/>
                </a:moveTo>
                <a:lnTo>
                  <a:pt x="2886933" y="0"/>
                </a:lnTo>
                <a:lnTo>
                  <a:pt x="2886933" y="2671725"/>
                </a:lnTo>
                <a:lnTo>
                  <a:pt x="0" y="26717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3161713">
            <a:off x="2483206" y="75737"/>
            <a:ext cx="1569883" cy="2785277"/>
          </a:xfrm>
          <a:custGeom>
            <a:avLst/>
            <a:gdLst/>
            <a:ahLst/>
            <a:cxnLst/>
            <a:rect r="r" b="b" t="t" l="l"/>
            <a:pathLst>
              <a:path h="2785277" w="1569883">
                <a:moveTo>
                  <a:pt x="0" y="0"/>
                </a:moveTo>
                <a:lnTo>
                  <a:pt x="1569884" y="0"/>
                </a:lnTo>
                <a:lnTo>
                  <a:pt x="1569884" y="2785277"/>
                </a:lnTo>
                <a:lnTo>
                  <a:pt x="0" y="27852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6106799">
            <a:off x="14294895" y="111010"/>
            <a:ext cx="3471712" cy="3130853"/>
          </a:xfrm>
          <a:custGeom>
            <a:avLst/>
            <a:gdLst/>
            <a:ahLst/>
            <a:cxnLst/>
            <a:rect r="r" b="b" t="t" l="l"/>
            <a:pathLst>
              <a:path h="3130853" w="3471712">
                <a:moveTo>
                  <a:pt x="0" y="0"/>
                </a:moveTo>
                <a:lnTo>
                  <a:pt x="3471713" y="0"/>
                </a:lnTo>
                <a:lnTo>
                  <a:pt x="3471713" y="3130853"/>
                </a:lnTo>
                <a:lnTo>
                  <a:pt x="0" y="313085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FFFDEE"/>
        </a:solidFill>
      </p:bgPr>
    </p:bg>
    <p:spTree>
      <p:nvGrpSpPr>
        <p:cNvPr id="1" name=""/>
        <p:cNvGrpSpPr/>
        <p:nvPr/>
      </p:nvGrpSpPr>
      <p:grpSpPr>
        <a:xfrm>
          <a:off x="0" y="0"/>
          <a:ext cx="0" cy="0"/>
          <a:chOff x="0" y="0"/>
          <a:chExt cx="0" cy="0"/>
        </a:xfrm>
      </p:grpSpPr>
      <p:grpSp>
        <p:nvGrpSpPr>
          <p:cNvPr name="Group 2" id="2"/>
          <p:cNvGrpSpPr/>
          <p:nvPr/>
        </p:nvGrpSpPr>
        <p:grpSpPr>
          <a:xfrm rot="0">
            <a:off x="4144538" y="1916972"/>
            <a:ext cx="10423226" cy="7341328"/>
            <a:chOff x="0" y="0"/>
            <a:chExt cx="2745212" cy="1933519"/>
          </a:xfrm>
        </p:grpSpPr>
        <p:sp>
          <p:nvSpPr>
            <p:cNvPr name="Freeform 3" id="3"/>
            <p:cNvSpPr/>
            <p:nvPr/>
          </p:nvSpPr>
          <p:spPr>
            <a:xfrm flipH="false" flipV="false" rot="0">
              <a:off x="0" y="0"/>
              <a:ext cx="2745212" cy="1933519"/>
            </a:xfrm>
            <a:custGeom>
              <a:avLst/>
              <a:gdLst/>
              <a:ahLst/>
              <a:cxnLst/>
              <a:rect r="r" b="b" t="t" l="l"/>
              <a:pathLst>
                <a:path h="1933519" w="2745212">
                  <a:moveTo>
                    <a:pt x="0" y="0"/>
                  </a:moveTo>
                  <a:lnTo>
                    <a:pt x="2745212" y="0"/>
                  </a:lnTo>
                  <a:lnTo>
                    <a:pt x="2745212" y="1933519"/>
                  </a:lnTo>
                  <a:lnTo>
                    <a:pt x="0" y="1933519"/>
                  </a:lnTo>
                  <a:close/>
                </a:path>
              </a:pathLst>
            </a:custGeom>
            <a:solidFill>
              <a:srgbClr val="42CCC4"/>
            </a:solidFill>
          </p:spPr>
        </p:sp>
        <p:sp>
          <p:nvSpPr>
            <p:cNvPr name="TextBox 4" id="4"/>
            <p:cNvSpPr txBox="true"/>
            <p:nvPr/>
          </p:nvSpPr>
          <p:spPr>
            <a:xfrm>
              <a:off x="0" y="-38100"/>
              <a:ext cx="2745212" cy="197161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871124" y="2385526"/>
            <a:ext cx="8970055" cy="6347069"/>
          </a:xfrm>
          <a:prstGeom prst="rect">
            <a:avLst/>
          </a:prstGeom>
        </p:spPr>
        <p:txBody>
          <a:bodyPr anchor="t" rtlCol="false" tIns="0" lIns="0" bIns="0" rIns="0">
            <a:spAutoFit/>
          </a:bodyPr>
          <a:lstStyle/>
          <a:p>
            <a:pPr algn="l">
              <a:lnSpc>
                <a:spcPts val="4177"/>
              </a:lnSpc>
            </a:pPr>
            <a:r>
              <a:rPr lang="en-US" sz="2983">
                <a:solidFill>
                  <a:srgbClr val="000000"/>
                </a:solidFill>
                <a:latin typeface="Glacial Indifference"/>
                <a:ea typeface="Glacial Indifference"/>
                <a:cs typeface="Glacial Indifference"/>
                <a:sym typeface="Glacial Indifference"/>
              </a:rPr>
              <a:t>Takım Adı: Limitless WOLVES </a:t>
            </a:r>
          </a:p>
          <a:p>
            <a:pPr algn="l">
              <a:lnSpc>
                <a:spcPts val="4177"/>
              </a:lnSpc>
            </a:pPr>
          </a:p>
          <a:p>
            <a:pPr algn="l">
              <a:lnSpc>
                <a:spcPts val="4177"/>
              </a:lnSpc>
            </a:pPr>
            <a:r>
              <a:rPr lang="en-US" sz="2983">
                <a:solidFill>
                  <a:srgbClr val="000000"/>
                </a:solidFill>
                <a:latin typeface="Glacial Indifference"/>
                <a:ea typeface="Glacial Indifference"/>
                <a:cs typeface="Glacial Indifference"/>
                <a:sym typeface="Glacial Indifference"/>
              </a:rPr>
              <a:t>Takım Numarası: 613 </a:t>
            </a:r>
          </a:p>
          <a:p>
            <a:pPr algn="l">
              <a:lnSpc>
                <a:spcPts val="4177"/>
              </a:lnSpc>
            </a:pPr>
          </a:p>
          <a:p>
            <a:pPr algn="l">
              <a:lnSpc>
                <a:spcPts val="4177"/>
              </a:lnSpc>
            </a:pPr>
            <a:r>
              <a:rPr lang="en-US" sz="2983">
                <a:solidFill>
                  <a:srgbClr val="000000"/>
                </a:solidFill>
                <a:latin typeface="Glacial Indifference"/>
                <a:ea typeface="Glacial Indifference"/>
                <a:cs typeface="Glacial Indifference"/>
                <a:sym typeface="Glacial Indifference"/>
              </a:rPr>
              <a:t>Okul / Kurum: Bahçeşehir Koleji / Bornova Kampüsü</a:t>
            </a:r>
          </a:p>
          <a:p>
            <a:pPr algn="l">
              <a:lnSpc>
                <a:spcPts val="4177"/>
              </a:lnSpc>
            </a:pPr>
          </a:p>
          <a:p>
            <a:pPr algn="l">
              <a:lnSpc>
                <a:spcPts val="4177"/>
              </a:lnSpc>
            </a:pPr>
            <a:r>
              <a:rPr lang="en-US" sz="2983">
                <a:solidFill>
                  <a:srgbClr val="000000"/>
                </a:solidFill>
                <a:latin typeface="Glacial Indifference"/>
                <a:ea typeface="Glacial Indifference"/>
                <a:cs typeface="Glacial Indifference"/>
                <a:sym typeface="Glacial Indifference"/>
              </a:rPr>
              <a:t> Şehir / Ülke: İzmir / TÜRKİYE</a:t>
            </a:r>
          </a:p>
          <a:p>
            <a:pPr algn="l">
              <a:lnSpc>
                <a:spcPts val="4177"/>
              </a:lnSpc>
            </a:pPr>
          </a:p>
          <a:p>
            <a:pPr algn="l">
              <a:lnSpc>
                <a:spcPts val="4177"/>
              </a:lnSpc>
            </a:pPr>
            <a:r>
              <a:rPr lang="en-US" sz="2983">
                <a:solidFill>
                  <a:srgbClr val="000000"/>
                </a:solidFill>
                <a:latin typeface="Glacial Indifference"/>
                <a:ea typeface="Glacial Indifference"/>
                <a:cs typeface="Glacial Indifference"/>
                <a:sym typeface="Glacial Indifference"/>
              </a:rPr>
              <a:t>Danışman Öğretmen(ler): Merve Deniz ÇİLENGİR, Kadir KÜÇÜK</a:t>
            </a:r>
          </a:p>
          <a:p>
            <a:pPr algn="l">
              <a:lnSpc>
                <a:spcPts val="4177"/>
              </a:lnSpc>
            </a:pPr>
          </a:p>
          <a:p>
            <a:pPr algn="l">
              <a:lnSpc>
                <a:spcPts val="4177"/>
              </a:lnSpc>
              <a:spcBef>
                <a:spcPct val="0"/>
              </a:spcBef>
            </a:pPr>
            <a:r>
              <a:rPr lang="en-US" sz="2983">
                <a:solidFill>
                  <a:srgbClr val="000000"/>
                </a:solidFill>
                <a:latin typeface="Glacial Indifference"/>
                <a:ea typeface="Glacial Indifference"/>
                <a:cs typeface="Glacial Indifference"/>
                <a:sym typeface="Glacial Indifference"/>
              </a:rPr>
              <a:t>Takım Üyeleri (Ad – Görev):</a:t>
            </a:r>
          </a:p>
        </p:txBody>
      </p:sp>
      <p:sp>
        <p:nvSpPr>
          <p:cNvPr name="TextBox 6" id="6"/>
          <p:cNvSpPr txBox="true"/>
          <p:nvPr/>
        </p:nvSpPr>
        <p:spPr>
          <a:xfrm rot="0">
            <a:off x="4356689" y="79484"/>
            <a:ext cx="9998924" cy="2043423"/>
          </a:xfrm>
          <a:prstGeom prst="rect">
            <a:avLst/>
          </a:prstGeom>
        </p:spPr>
        <p:txBody>
          <a:bodyPr anchor="t" rtlCol="false" tIns="0" lIns="0" bIns="0" rIns="0">
            <a:spAutoFit/>
          </a:bodyPr>
          <a:lstStyle/>
          <a:p>
            <a:pPr algn="ctr">
              <a:lnSpc>
                <a:spcPts val="16653"/>
              </a:lnSpc>
              <a:spcBef>
                <a:spcPct val="0"/>
              </a:spcBef>
            </a:pPr>
            <a:r>
              <a:rPr lang="en-US" sz="11895">
                <a:solidFill>
                  <a:srgbClr val="000000"/>
                </a:solidFill>
                <a:latin typeface="March"/>
                <a:ea typeface="March"/>
                <a:cs typeface="March"/>
                <a:sym typeface="March"/>
              </a:rPr>
              <a:t>TAKIMIMIZ</a:t>
            </a:r>
          </a:p>
        </p:txBody>
      </p:sp>
    </p:spTree>
  </p:cSld>
  <p:clrMapOvr>
    <a:masterClrMapping/>
  </p:clrMapOvr>
  <p:transition spd="slow">
    <p:circl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16601" r="-5640" b="-116601"/>
            </a:stretch>
          </a:blipFill>
        </p:spPr>
      </p:sp>
      <p:sp>
        <p:nvSpPr>
          <p:cNvPr name="TextBox 3" id="3"/>
          <p:cNvSpPr txBox="true"/>
          <p:nvPr/>
        </p:nvSpPr>
        <p:spPr>
          <a:xfrm rot="393405">
            <a:off x="2161912" y="3998948"/>
            <a:ext cx="13990280" cy="2062001"/>
          </a:xfrm>
          <a:prstGeom prst="rect">
            <a:avLst/>
          </a:prstGeom>
        </p:spPr>
        <p:txBody>
          <a:bodyPr anchor="t" rtlCol="false" tIns="0" lIns="0" bIns="0" rIns="0">
            <a:spAutoFit/>
          </a:bodyPr>
          <a:lstStyle/>
          <a:p>
            <a:pPr algn="ctr">
              <a:lnSpc>
                <a:spcPts val="16844"/>
              </a:lnSpc>
              <a:spcBef>
                <a:spcPct val="0"/>
              </a:spcBef>
            </a:pPr>
            <a:r>
              <a:rPr lang="en-US" sz="12031">
                <a:solidFill>
                  <a:srgbClr val="FFFFFF"/>
                </a:solidFill>
                <a:latin typeface="Anaktoria"/>
                <a:ea typeface="Anaktoria"/>
                <a:cs typeface="Anaktoria"/>
                <a:sym typeface="Anaktoria"/>
              </a:rPr>
              <a:t>PROJEMIZIN ÖZETI</a:t>
            </a:r>
          </a:p>
        </p:txBody>
      </p:sp>
    </p:spTree>
  </p:cSld>
  <p:clrMapOvr>
    <a:masterClrMapping/>
  </p:clrMapOvr>
  <p:transition spd="slow">
    <p:wipe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184774">
            <a:off x="1600753" y="2722133"/>
            <a:ext cx="15086847" cy="3479486"/>
          </a:xfrm>
          <a:prstGeom prst="rect">
            <a:avLst/>
          </a:prstGeom>
        </p:spPr>
        <p:txBody>
          <a:bodyPr anchor="t" rtlCol="false" tIns="0" lIns="0" bIns="0" rIns="0">
            <a:spAutoFit/>
          </a:bodyPr>
          <a:lstStyle/>
          <a:p>
            <a:pPr algn="ctr">
              <a:lnSpc>
                <a:spcPts val="4582"/>
              </a:lnSpc>
              <a:spcBef>
                <a:spcPct val="0"/>
              </a:spcBef>
            </a:pPr>
            <a:r>
              <a:rPr lang="en-US" sz="3524" i="true">
                <a:solidFill>
                  <a:srgbClr val="000000"/>
                </a:solidFill>
                <a:latin typeface="Glacial Indifference Italics"/>
                <a:ea typeface="Glacial Indifference Italics"/>
                <a:cs typeface="Glacial Indifference Italics"/>
                <a:sym typeface="Glacial Indifference Italics"/>
              </a:rPr>
              <a:t>UNEARTHED teması kapsamında geliştirdiğimiz bu proje, arkeolojik kazılarda çıkarılan toprağın daha hızlı ve verimli biçimde incelenmesini amaçlamaktadır. Günümüzde kazı alanlarından elde edilen yüksek miktardaki toprak, arkeologlar tarafından manuel olarak elenmektedir ve bu süreç hem ciddi bir zaman kaybına yol açmakta hem de değerli buluntuların gözden kaçmasına neden olabilmektedir.</a:t>
            </a:r>
          </a:p>
        </p:txBody>
      </p:sp>
    </p:spTree>
  </p:cSld>
  <p:clrMapOvr>
    <a:masterClrMapping/>
  </p:clrMapOvr>
  <p:transition spd="fast">
    <p:wipe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212143">
            <a:off x="1849388" y="1152179"/>
            <a:ext cx="14228148" cy="6852532"/>
          </a:xfrm>
          <a:prstGeom prst="rect">
            <a:avLst/>
          </a:prstGeom>
        </p:spPr>
        <p:txBody>
          <a:bodyPr anchor="t" rtlCol="false" tIns="0" lIns="0" bIns="0" rIns="0">
            <a:spAutoFit/>
          </a:bodyPr>
          <a:lstStyle/>
          <a:p>
            <a:pPr algn="ctr">
              <a:lnSpc>
                <a:spcPts val="5434"/>
              </a:lnSpc>
            </a:pPr>
            <a:r>
              <a:rPr lang="en-US" sz="4180" i="true">
                <a:solidFill>
                  <a:srgbClr val="000000"/>
                </a:solidFill>
                <a:latin typeface="Glacial Indifference Italics"/>
                <a:ea typeface="Glacial Indifference Italics"/>
                <a:cs typeface="Glacial Indifference Italics"/>
                <a:sym typeface="Glacial Indifference Italics"/>
              </a:rPr>
              <a:t>Bu soruna çözüm olarak, toprağı eş zamanlı biçimde taşıyan ve suyla yıkayan entegre bir bant sistemi tasarladık. Yıkanan toprak, yapay zekâ destekli görüntüleme sistemi tarafından analiz ediliyor ve arkeolojik değere sahip olabilecek bir nesne tespit edildiğinde sistem uyarı vererek bandı otomatik olarak durduruyor. Böylece ilgili parça güvenli bir şekilde ayrılıp detaylı biçimde incelenebiliyor.</a:t>
            </a:r>
          </a:p>
          <a:p>
            <a:pPr algn="ctr">
              <a:lnSpc>
                <a:spcPts val="5434"/>
              </a:lnSpc>
              <a:spcBef>
                <a:spcPct val="0"/>
              </a:spcBef>
            </a:pPr>
            <a:r>
              <a:rPr lang="en-US" sz="4180" i="true">
                <a:solidFill>
                  <a:srgbClr val="000000"/>
                </a:solidFill>
                <a:latin typeface="Glacial Indifference Italics"/>
                <a:ea typeface="Glacial Indifference Italics"/>
                <a:cs typeface="Glacial Indifference Italics"/>
                <a:sym typeface="Glacial Indifference Italics"/>
              </a:rPr>
              <a:t>Bu çözüm sayesinde kazı süreci daha sistemli ilerliyor, ekip zamandan tasarruf ediyor ve kültürel mirasın korunması daha güvenli hale geliyor diyebiliriz.</a:t>
            </a:r>
          </a:p>
        </p:txBody>
      </p:sp>
    </p:spTree>
  </p:cSld>
  <p:clrMapOvr>
    <a:masterClrMapping/>
  </p:clrMapOvr>
  <p:transition spd="fast">
    <p:cover dir="rd"/>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702706">
            <a:off x="1515432" y="2459551"/>
            <a:ext cx="15417183" cy="4799965"/>
          </a:xfrm>
          <a:prstGeom prst="rect">
            <a:avLst/>
          </a:prstGeom>
        </p:spPr>
        <p:txBody>
          <a:bodyPr anchor="t" rtlCol="false" tIns="0" lIns="0" bIns="0" rIns="0">
            <a:spAutoFit/>
          </a:bodyPr>
          <a:lstStyle/>
          <a:p>
            <a:pPr algn="ctr">
              <a:lnSpc>
                <a:spcPts val="4759"/>
              </a:lnSpc>
            </a:pPr>
            <a:r>
              <a:rPr lang="en-US" sz="3399">
                <a:solidFill>
                  <a:srgbClr val="000000"/>
                </a:solidFill>
                <a:latin typeface="Arimo"/>
                <a:ea typeface="Arimo"/>
                <a:cs typeface="Arimo"/>
                <a:sym typeface="Arimo"/>
              </a:rPr>
              <a:t>Arkeolojik kazılarda ortaya çıkan toprak miktarı çoğu zaman beklenenden çok daha fazladır. Bu toprağın elle elenmesi ise hem ciddi bir zaman ve emek gerektirir hem de kaçınılmaz olarak insan hatasına açık bir süreçtir. Özellikle küçük ya da hassas eserler, gözden kaçma ya da fark edilmeden zarar görme riski taşır. Böyle durumlar yalnızca kazı çalışmalarının süresini uzatmakla kalmaz; aynı zamanda elde edilecek bilimsel verilerin değerlendirilmesini ve araştırmaların ilerlemesini de yavaşlatır.</a:t>
            </a:r>
          </a:p>
          <a:p>
            <a:pPr algn="ctr">
              <a:lnSpc>
                <a:spcPts val="4759"/>
              </a:lnSpc>
              <a:spcBef>
                <a:spcPct val="0"/>
              </a:spcBef>
            </a:pPr>
          </a:p>
        </p:txBody>
      </p:sp>
    </p:spTree>
  </p:cSld>
  <p:clrMapOvr>
    <a:masterClrMapping/>
  </p:clrMapOvr>
  <p:transition spd="slow">
    <p:cover dir="ru"/>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132587">
            <a:off x="1429193" y="3180418"/>
            <a:ext cx="15131777" cy="4383874"/>
          </a:xfrm>
          <a:prstGeom prst="rect">
            <a:avLst/>
          </a:prstGeom>
        </p:spPr>
        <p:txBody>
          <a:bodyPr anchor="t" rtlCol="false" tIns="0" lIns="0" bIns="0" rIns="0">
            <a:spAutoFit/>
          </a:bodyPr>
          <a:lstStyle/>
          <a:p>
            <a:pPr algn="ctr">
              <a:lnSpc>
                <a:spcPts val="4972"/>
              </a:lnSpc>
            </a:pPr>
            <a:r>
              <a:rPr lang="en-US" sz="3552" i="true">
                <a:solidFill>
                  <a:srgbClr val="000000"/>
                </a:solidFill>
                <a:latin typeface="Arimo Italics"/>
                <a:ea typeface="Arimo Italics"/>
                <a:cs typeface="Arimo Italics"/>
                <a:sym typeface="Arimo Italics"/>
              </a:rPr>
              <a:t> Arkeolojik kazı yöntemleri araştırıldı ve toprak eleme ile yıkama sistemlerinin işleyişi incelendi. Yapay zekânın görüntü tanıma alanındaki kullanımları değerlendirilerek arkeolojiye katkıları ele alındı; teknolojinin potansiyeli oldukça dikkat çekici. Ayrıca kazı sürecinde arkeologların karşılaştığı zorluklar incelendi ve akademik makaleler ile belgesellerdeki uzman görüşleri analiz edilerek konuya kapsamlı bir bakış sağlandı.</a:t>
            </a:r>
          </a:p>
          <a:p>
            <a:pPr algn="r">
              <a:lnSpc>
                <a:spcPts val="4972"/>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DAHBSJbiC14</dc:identifier>
  <dcterms:modified xsi:type="dcterms:W3CDTF">2011-08-01T06:04:30Z</dcterms:modified>
  <cp:revision>1</cp:revision>
  <dc:title>FLL 2025-2026 LIMITLESS WOLVES TAKIM TANITIMI</dc:title>
</cp:coreProperties>
</file>